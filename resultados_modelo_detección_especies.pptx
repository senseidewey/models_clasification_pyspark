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32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de EDA: aquí van los tres gráficos (pairplot, boxplot, histograma). El objetivo del proyecto es predecir la especie del pingüino a partir de sus características físicas. El EDA nos muestra qué variables separan mejor a las especies.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v1 (solo variables físicas): accuracy 0.9861, F1 0.9862. Gentoo y Chinstrap perfectos; el único error es Adelie clasificado como Chinstrap. Al agregar la isla de origen con one-hot encoding, el modelo alcanza accuracy y F1 de 1.0000 y una matriz de confusión perfecta. La isla aporta la información geográfica que separa a Adelie de Chinstrap.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ANÁLISIS EXPLORATORIO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caracteriza a cada especie?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23860" y="239297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0B1F33"/>
          </a:solidFill>
          <a:ln/>
          <a:effectLst>
            <a:outerShdw blurRad="114300" dist="38100" dir="5400000" algn="bl" rotWithShape="0">
              <a:srgbClr val="0B1F33">
                <a:alpha val="1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172" y="495329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55380" y="330737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kern="0" spc="200" dirty="0">
                <a:solidFill>
                  <a:srgbClr val="8F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 la especie a partir de sus características físicas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1292928"/>
            <a:ext cx="9875520" cy="339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Exploramos las medidas morfológicas de cada pingüino para entender qué variables separan a las especies antes de modelar.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70936" y="1808959"/>
            <a:ext cx="3954176" cy="4850633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14300" dist="38100" dir="5400000" algn="bl" rotWithShape="0">
              <a:srgbClr val="0B1F33">
                <a:alpha val="1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Shape 6"/>
          <p:cNvSpPr/>
          <p:nvPr/>
        </p:nvSpPr>
        <p:spPr>
          <a:xfrm>
            <a:off x="804672" y="19635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7"/>
          <p:cNvSpPr/>
          <p:nvPr/>
        </p:nvSpPr>
        <p:spPr>
          <a:xfrm>
            <a:off x="804672" y="1963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1963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noProof="0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la target</a:t>
            </a:r>
            <a:endParaRPr lang="es-EC" sz="1400" noProof="0" dirty="0"/>
          </a:p>
        </p:txBody>
      </p:sp>
      <p:sp>
        <p:nvSpPr>
          <p:cNvPr id="15" name="Text 11"/>
          <p:cNvSpPr/>
          <p:nvPr/>
        </p:nvSpPr>
        <p:spPr>
          <a:xfrm>
            <a:off x="764660" y="5207600"/>
            <a:ext cx="3054096" cy="692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C" sz="1100" noProof="0" dirty="0">
                <a:solidFill>
                  <a:srgbClr val="6B8299"/>
                </a:solidFill>
                <a:latin typeface="Arial" pitchFamily="34" charset="0"/>
                <a:cs typeface="Arial" pitchFamily="34" charset="-120"/>
              </a:rPr>
              <a:t>Vemos que en la target, tenemos clases </a:t>
            </a:r>
            <a:r>
              <a:rPr lang="es-EC" sz="1100" b="1" noProof="0" dirty="0">
                <a:solidFill>
                  <a:srgbClr val="6B8299"/>
                </a:solidFill>
                <a:latin typeface="Arial" pitchFamily="34" charset="0"/>
                <a:cs typeface="Arial" pitchFamily="34" charset="-120"/>
              </a:rPr>
              <a:t>desbalanceadas</a:t>
            </a:r>
            <a:r>
              <a:rPr lang="es-EC" sz="1100" noProof="0" dirty="0">
                <a:solidFill>
                  <a:srgbClr val="6B8299"/>
                </a:solidFill>
                <a:latin typeface="Arial" pitchFamily="34" charset="0"/>
                <a:cs typeface="Arial" pitchFamily="34" charset="-120"/>
              </a:rPr>
              <a:t>, una de las especies tiene solo 68 pingüinos mientras que las otras especies tienen 152 y 124.</a:t>
            </a:r>
            <a:endParaRPr lang="es-EC" sz="1100" noProof="0" dirty="0"/>
          </a:p>
        </p:txBody>
      </p:sp>
      <p:sp>
        <p:nvSpPr>
          <p:cNvPr id="16" name="Shape 12"/>
          <p:cNvSpPr/>
          <p:nvPr/>
        </p:nvSpPr>
        <p:spPr>
          <a:xfrm>
            <a:off x="4434840" y="1808959"/>
            <a:ext cx="3566160" cy="4850633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14300" dist="38100" dir="5400000" algn="bl" rotWithShape="0">
              <a:srgbClr val="0B1F33">
                <a:alpha val="1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3"/>
          <p:cNvSpPr/>
          <p:nvPr/>
        </p:nvSpPr>
        <p:spPr>
          <a:xfrm>
            <a:off x="4736592" y="1965097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8" name="Text 14"/>
          <p:cNvSpPr/>
          <p:nvPr/>
        </p:nvSpPr>
        <p:spPr>
          <a:xfrm>
            <a:off x="4736592" y="19650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303520" y="196509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noProof="0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Dispersión del largo y ancho del pico</a:t>
            </a:r>
            <a:endParaRPr lang="es-EC" sz="1400" noProof="0" dirty="0"/>
          </a:p>
        </p:txBody>
      </p:sp>
      <p:sp>
        <p:nvSpPr>
          <p:cNvPr id="23" name="Text 18"/>
          <p:cNvSpPr/>
          <p:nvPr/>
        </p:nvSpPr>
        <p:spPr>
          <a:xfrm>
            <a:off x="4690872" y="5432186"/>
            <a:ext cx="3054096" cy="1227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C" sz="1100" noProof="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Podemos concluir de este gráfico es que en realidad nos dice mucho, la especie </a:t>
            </a:r>
            <a:r>
              <a:rPr lang="es-EC" sz="1100" b="1" noProof="0" dirty="0" err="1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Adelie</a:t>
            </a:r>
            <a:r>
              <a:rPr lang="es-EC" sz="1100" b="1" noProof="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EC" sz="1100" noProof="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el pico más ancho y corto, la especie </a:t>
            </a:r>
            <a:r>
              <a:rPr lang="es-EC" sz="1100" b="1" noProof="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Gentoo </a:t>
            </a:r>
            <a:r>
              <a:rPr lang="es-EC" sz="1100" noProof="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el pico más largo y más fino, mientras que la especie </a:t>
            </a:r>
            <a:r>
              <a:rPr lang="es-EC" sz="1100" noProof="0" dirty="0" err="1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Chinstrap</a:t>
            </a:r>
            <a:r>
              <a:rPr lang="es-EC" sz="1100" noProof="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tiene el pico más ancho y largo, estás variables serán de gran relevancia para el modelo.</a:t>
            </a:r>
            <a:r>
              <a:rPr lang="es-EC" sz="1100" b="1" noProof="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s-EC" sz="1100" b="1" noProof="0" dirty="0"/>
          </a:p>
        </p:txBody>
      </p:sp>
      <p:sp>
        <p:nvSpPr>
          <p:cNvPr id="24" name="Shape 19"/>
          <p:cNvSpPr/>
          <p:nvPr/>
        </p:nvSpPr>
        <p:spPr>
          <a:xfrm>
            <a:off x="8234172" y="1808958"/>
            <a:ext cx="3653028" cy="4850633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  <a:effectLst>
            <a:outerShdw blurRad="114300" dist="38100" dir="5400000" algn="bl" rotWithShape="0">
              <a:srgbClr val="0B1F33">
                <a:alpha val="1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5" name="Shape 20"/>
          <p:cNvSpPr/>
          <p:nvPr/>
        </p:nvSpPr>
        <p:spPr>
          <a:xfrm>
            <a:off x="8622792" y="1965097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6" name="Text 21"/>
          <p:cNvSpPr/>
          <p:nvPr/>
        </p:nvSpPr>
        <p:spPr>
          <a:xfrm>
            <a:off x="8622792" y="19650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9189720" y="1965097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C" sz="1400" b="1" noProof="0" dirty="0" err="1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</a:t>
            </a:r>
            <a:r>
              <a:rPr lang="es-EC" sz="1400" b="1" noProof="0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peso por especie por el género</a:t>
            </a:r>
            <a:endParaRPr lang="es-EC" sz="1800" noProof="0" dirty="0"/>
          </a:p>
        </p:txBody>
      </p:sp>
      <p:sp>
        <p:nvSpPr>
          <p:cNvPr id="31" name="Text 25"/>
          <p:cNvSpPr/>
          <p:nvPr/>
        </p:nvSpPr>
        <p:spPr>
          <a:xfrm>
            <a:off x="8645652" y="5392386"/>
            <a:ext cx="3054096" cy="1060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C" sz="1100" noProof="0" dirty="0">
                <a:solidFill>
                  <a:srgbClr val="6B8299"/>
                </a:solidFill>
                <a:latin typeface="Arial" pitchFamily="34" charset="0"/>
                <a:cs typeface="Arial" pitchFamily="34" charset="-120"/>
              </a:rPr>
              <a:t>Al cruzar el peso con la especie vemos que la especie Gentoo pesa más en promedio que las otras especies y además los pingüinos hembra pesan menos en promedio que los machos, sin embargo, esta variable no sirve para identificar la especie. </a:t>
            </a:r>
            <a:endParaRPr lang="es-EC" sz="1100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857EA3-867A-42E1-72A2-B1944311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501" y="2615955"/>
            <a:ext cx="3395339" cy="270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B6C739B6-B17F-7B3A-7B14-10F4AA6A6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78" y="2789938"/>
            <a:ext cx="3211692" cy="2078639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ECAED25C-9423-7660-8E22-448D6CCFCF48}"/>
              </a:ext>
            </a:extLst>
          </p:cNvPr>
          <p:cNvSpPr txBox="1"/>
          <p:nvPr/>
        </p:nvSpPr>
        <p:spPr>
          <a:xfrm>
            <a:off x="1161446" y="2981228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200" b="1" dirty="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B1DFD39-0818-A9E6-1970-889A09A8916B}"/>
              </a:ext>
            </a:extLst>
          </p:cNvPr>
          <p:cNvSpPr txBox="1"/>
          <p:nvPr/>
        </p:nvSpPr>
        <p:spPr>
          <a:xfrm>
            <a:off x="3237537" y="3263223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200" b="1" dirty="0">
                <a:solidFill>
                  <a:schemeClr val="bg1"/>
                </a:solidFill>
              </a:rPr>
              <a:t>124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31B021E-9456-E9A3-3C12-5E173EDE9F8F}"/>
              </a:ext>
            </a:extLst>
          </p:cNvPr>
          <p:cNvSpPr txBox="1"/>
          <p:nvPr/>
        </p:nvSpPr>
        <p:spPr>
          <a:xfrm>
            <a:off x="2204973" y="3693138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1200" b="1" dirty="0">
                <a:solidFill>
                  <a:schemeClr val="bg1"/>
                </a:solidFill>
              </a:rPr>
              <a:t>68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7E4FB8-6694-C960-2F3C-A7B85A20B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001" y="2694232"/>
            <a:ext cx="3327369" cy="261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· RESULTADOS DEL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buen modelo a una clasificación perfecta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4846320"/>
          </a:xfrm>
          <a:prstGeom prst="roundRect">
            <a:avLst>
              <a:gd name="adj" fmla="val 1887"/>
            </a:avLst>
          </a:prstGeom>
          <a:solidFill>
            <a:srgbClr val="12395A"/>
          </a:solidFill>
          <a:ln w="12700">
            <a:solidFill>
              <a:srgbClr val="1E4E77"/>
            </a:solidFill>
            <a:prstDash val="solid"/>
          </a:ln>
          <a:effectLst>
            <a:outerShdw blurRad="114300" dist="38100" dir="5400000" algn="bl" rotWithShape="0">
              <a:srgbClr val="0B1F33">
                <a:alpha val="1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914400" y="166783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INICIAL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941461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· variables físicas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514600"/>
            <a:ext cx="2034540" cy="914400"/>
          </a:xfrm>
          <a:prstGeom prst="roundRect">
            <a:avLst>
              <a:gd name="adj" fmla="val 8000"/>
            </a:avLst>
          </a:prstGeom>
          <a:solidFill>
            <a:srgbClr val="0B284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0.9861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03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3260" y="2514600"/>
            <a:ext cx="2034540" cy="914400"/>
          </a:xfrm>
          <a:prstGeom prst="roundRect">
            <a:avLst>
              <a:gd name="adj" fmla="val 8000"/>
            </a:avLst>
          </a:prstGeom>
          <a:solidFill>
            <a:srgbClr val="0B2841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3223260" y="26060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0.9862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23260" y="3108960"/>
            <a:ext cx="203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B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ponderado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703320"/>
          <a:ext cx="4343400" cy="151790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AEC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EC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EC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EC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AEC6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Gentoo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Chinstrap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8F0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239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321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546811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Gentoo y Chinstrap: detección perfecta. </a:t>
            </a:r>
            <a:r>
              <a:rPr lang="en-US" sz="1150" dirty="0">
                <a:solidFill>
                  <a:srgbClr val="C9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está en </a:t>
            </a:r>
            <a:r>
              <a:rPr lang="en-US" sz="1150" b="1" dirty="0">
                <a:solidFill>
                  <a:srgbClr val="F0A2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Adelie clasificado como Chinstrap.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897880" y="3566160"/>
            <a:ext cx="822960" cy="822960"/>
          </a:xfrm>
          <a:prstGeom prst="ellipse">
            <a:avLst/>
          </a:prstGeom>
          <a:solidFill>
            <a:srgbClr val="E8743B"/>
          </a:solidFill>
          <a:ln/>
          <a:effectLst>
            <a:outerShdw blurRad="114300" dist="38100" dir="5400000" algn="bl" rotWithShape="0">
              <a:srgbClr val="0B1F33">
                <a:alpha val="1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776472"/>
            <a:ext cx="402336" cy="402336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331720"/>
            <a:ext cx="658368" cy="6583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D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Isla de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D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995160" y="1554480"/>
            <a:ext cx="4800600" cy="4846320"/>
          </a:xfrm>
          <a:prstGeom prst="roundRect">
            <a:avLst>
              <a:gd name="adj" fmla="val 2020"/>
            </a:avLst>
          </a:prstGeom>
          <a:solidFill>
            <a:srgbClr val="0E3D33"/>
          </a:solidFill>
          <a:ln w="19050">
            <a:solidFill>
              <a:srgbClr val="2E9E7B"/>
            </a:solidFill>
            <a:prstDash val="solid"/>
          </a:ln>
          <a:effectLst>
            <a:outerShdw blurRad="114300" dist="38100" dir="5400000" algn="bl" rotWithShape="0">
              <a:srgbClr val="0B1F33">
                <a:alpha val="16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Text 15"/>
          <p:cNvSpPr/>
          <p:nvPr/>
        </p:nvSpPr>
        <p:spPr>
          <a:xfrm>
            <a:off x="7357474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D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MEJORADO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357474" y="21214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E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· físicas + isla (one-hot)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357474" y="2514600"/>
            <a:ext cx="2034540" cy="914400"/>
          </a:xfrm>
          <a:prstGeom prst="roundRect">
            <a:avLst>
              <a:gd name="adj" fmla="val 8000"/>
            </a:avLst>
          </a:prstGeom>
          <a:solidFill>
            <a:srgbClr val="0A2E2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4" name="Text 18"/>
          <p:cNvSpPr/>
          <p:nvPr/>
        </p:nvSpPr>
        <p:spPr>
          <a:xfrm>
            <a:off x="7357474" y="26060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E0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7357474" y="3108960"/>
            <a:ext cx="203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666334" y="2514600"/>
            <a:ext cx="2034540" cy="914400"/>
          </a:xfrm>
          <a:prstGeom prst="roundRect">
            <a:avLst>
              <a:gd name="adj" fmla="val 8000"/>
            </a:avLst>
          </a:prstGeom>
          <a:solidFill>
            <a:srgbClr val="0A2E27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27" name="Text 21"/>
          <p:cNvSpPr/>
          <p:nvPr/>
        </p:nvSpPr>
        <p:spPr>
          <a:xfrm>
            <a:off x="9666334" y="2606040"/>
            <a:ext cx="203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FE0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9761220" y="3108960"/>
            <a:ext cx="1939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ponderado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357474" y="36758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7E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confusión — Real \ Predicho</a:t>
            </a:r>
            <a:endParaRPr lang="en-US" sz="1150" dirty="0"/>
          </a:p>
        </p:txBody>
      </p:sp>
      <p:graphicFrame>
        <p:nvGraphicFramePr>
          <p:cNvPr id="3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011816"/>
              </p:ext>
            </p:extLst>
          </p:nvPr>
        </p:nvGraphicFramePr>
        <p:xfrm>
          <a:off x="7357474" y="4005072"/>
          <a:ext cx="3794760" cy="1517904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FCF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FCF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Gentoo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FCF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Chinstrap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9FCF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620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8FB8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8FB8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9FCF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Gentoo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8FB8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620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8FB8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9FCFB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Chinstrap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8FB8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8FB8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620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A2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7474" y="557784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60394" y="551383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perfecta: </a:t>
            </a:r>
            <a:r>
              <a:rPr lang="en-US" sz="1150" dirty="0">
                <a:solidFill>
                  <a:srgbClr val="C9E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especies se detectan sin error. La isla aporta la señal que faltaba para separar Adelie de Chinstrap.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442</Words>
  <Application>Microsoft Office PowerPoint</Application>
  <PresentationFormat>Panorámica</PresentationFormat>
  <Paragraphs>75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Cambria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de especies de pingüinos — PySpark</dc:title>
  <dc:subject>PptxGenJS Presentation</dc:subject>
  <dc:creator>Miguel</dc:creator>
  <cp:lastModifiedBy>Miguel Estiven Urgiles Andrade</cp:lastModifiedBy>
  <cp:revision>3</cp:revision>
  <dcterms:created xsi:type="dcterms:W3CDTF">2026-07-02T02:27:29Z</dcterms:created>
  <dcterms:modified xsi:type="dcterms:W3CDTF">2026-07-02T03:06:20Z</dcterms:modified>
</cp:coreProperties>
</file>